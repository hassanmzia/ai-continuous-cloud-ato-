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AI Continuous Cloud 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Calibri"/>
              </a:defRPr>
            </a:pPr>
            <a:r>
              <a:t>Multi-Cloud Continuous Authority to Operate</a:t>
            </a:r>
            <a:br/>
            <a:r>
              <a:t>with Agentic RAG, MCP, A2A &amp; LangGraph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23360"/>
            <a:ext cx="3657600" cy="27432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E9E"/>
                </a:solidFill>
                <a:latin typeface="Calibri"/>
              </a:defRPr>
            </a:pPr>
            <a:r>
              <a:t>Technical Architecture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AI Continuous ATO?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  <a:latin typeface="Calibri"/>
              </a:defRPr>
              <a:buChar char="▸"/>
            </a:pPr>
            <a:r>
              <a:t>AI-driven continuous compliance monitoring across AWS, Azure, GCP (including Government partitions)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  <a:latin typeface="Calibri"/>
              </a:defRPr>
              <a:buChar char="▸"/>
            </a:pPr>
            <a:r>
              <a:t>Supports FedRAMP (Low / Moderate / High), NIST 800-53 Rev 5, RMF, DoD STIG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  <a:latin typeface="Calibri"/>
              </a:defRPr>
              <a:buChar char="▸"/>
            </a:pPr>
            <a:r>
              <a:t>10-agent pipeline: from natural language query to full compliance assessment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  <a:latin typeface="Calibri"/>
              </a:defRPr>
              <a:buChar char="▸"/>
            </a:pPr>
            <a:r>
              <a:t>"Are we still FedRAMP compliant today?" → automated evidence collection, gap analysis, remediation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  <a:latin typeface="Calibri"/>
              </a:defRPr>
              <a:buChar char="▸"/>
            </a:pPr>
            <a:r>
              <a:t>ATO-grade guarantees: immutable audit trail, SHA-256 evidence hashing, human approval gates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371600"/>
            <a:ext cx="4389120" cy="64008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/ TypeScript Console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2011680"/>
            <a:ext cx="0" cy="320040"/>
          </a:xfrm>
          <a:prstGeom prst="line">
            <a:avLst/>
          </a:prstGeom>
          <a:ln w="25400">
            <a:solidFill>
              <a:srgbClr val="635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371600" y="2377440"/>
            <a:ext cx="2560320" cy="6400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Django REST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377440"/>
            <a:ext cx="2926080" cy="6400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LangGraph 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377440"/>
            <a:ext cx="2926080" cy="64008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Mesh (10 Agents)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2697480"/>
            <a:ext cx="22860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2320" y="2697480"/>
            <a:ext cx="22860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3017520"/>
            <a:ext cx="0" cy="502920"/>
          </a:xfrm>
          <a:prstGeom prst="line">
            <a:avLst/>
          </a:prstGeom>
          <a:ln w="25400">
            <a:solidFill>
              <a:srgbClr val="635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3017520"/>
            <a:ext cx="0" cy="502920"/>
          </a:xfrm>
          <a:prstGeom prst="line">
            <a:avLst/>
          </a:prstGeom>
          <a:ln w="25400">
            <a:solidFill>
              <a:srgbClr val="635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566160"/>
            <a:ext cx="2377440" cy="64008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MCP Router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1463040" cy="548640"/>
          </a:xfrm>
          <a:prstGeom prst="round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480560"/>
            <a:ext cx="1463040" cy="548640"/>
          </a:xfrm>
          <a:prstGeom prst="round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Azure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480560"/>
            <a:ext cx="1463040" cy="548640"/>
          </a:xfrm>
          <a:prstGeom prst="round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GCP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12080"/>
            <a:ext cx="2194560" cy="548640"/>
          </a:xfrm>
          <a:prstGeom prst="round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STIG / SCAP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212080"/>
            <a:ext cx="2194560" cy="548640"/>
          </a:xfrm>
          <a:prstGeom prst="round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Ticketing (Jira)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4206240"/>
            <a:ext cx="0" cy="22860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0" y="3566160"/>
            <a:ext cx="237744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PostgreSQL + pgvector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389120"/>
            <a:ext cx="237744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Evidence Vault (MinIO)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212080"/>
            <a:ext cx="2377440" cy="54864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Redis (Cache / Broker)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566160"/>
            <a:ext cx="274320" cy="274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547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977639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39593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API / Orch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4389120"/>
            <a:ext cx="274320" cy="2743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370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4800600"/>
            <a:ext cx="274320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4782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5212080"/>
            <a:ext cx="274320" cy="27432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5193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Cloud / Tools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5623560"/>
            <a:ext cx="27432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5605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10-Agent Compliance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9202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Scope</a:t>
            </a:r>
            <a:br/>
            <a:r>
              <a:t>Resolver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2011680"/>
            <a:ext cx="27432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51760" y="1463040"/>
            <a:ext cx="19202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Control</a:t>
            </a:r>
            <a:br/>
            <a:r>
              <a:t>Mapping (RAG)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17720" y="2011680"/>
            <a:ext cx="27432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37760" y="1463040"/>
            <a:ext cx="1920240" cy="109728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Evidence</a:t>
            </a:r>
            <a:br/>
            <a:r>
              <a:t>Planner</a:t>
            </a:r>
            <a:br/>
            <a:r>
              <a:t>(Agentic RAG)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03720" y="2011680"/>
            <a:ext cx="27432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23760" y="1463040"/>
            <a:ext cx="1920240" cy="10972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Evidence</a:t>
            </a:r>
            <a:br/>
            <a:r>
              <a:t>Collector</a:t>
            </a:r>
            <a:br/>
            <a:r>
              <a:t>(MCP)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2011680"/>
            <a:ext cx="27432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09760" y="1463040"/>
            <a:ext cx="1920240" cy="10972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Drift</a:t>
            </a:r>
            <a:br/>
            <a:r>
              <a:t>Detection</a:t>
            </a:r>
            <a:br/>
            <a:r>
              <a:t>(MCP)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95560" y="2560320"/>
            <a:ext cx="0" cy="50292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3200400"/>
            <a:ext cx="19202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10. Reporting</a:t>
            </a:r>
            <a:br/>
            <a:r>
              <a:t>(RAG)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3749040"/>
            <a:ext cx="27432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51760" y="3200400"/>
            <a:ext cx="1920240" cy="10972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 Remediation</a:t>
            </a:r>
            <a:br/>
            <a:r>
              <a:t>(MCP)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17720" y="3749040"/>
            <a:ext cx="27432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37760" y="3200400"/>
            <a:ext cx="1920240" cy="1097280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F36"/>
                </a:solidFill>
                <a:latin typeface="Calibri"/>
              </a:defRPr>
            </a:pPr>
            <a:r>
              <a:t>8. Approval</a:t>
            </a:r>
            <a:br/>
            <a:r>
              <a:t>Gate</a:t>
            </a:r>
            <a:br/>
            <a:r>
              <a:t>(Human)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03720" y="3749040"/>
            <a:ext cx="27432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23760" y="3200400"/>
            <a:ext cx="1920240" cy="109728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7. Gap</a:t>
            </a:r>
            <a:br/>
            <a:r>
              <a:t>Analysis</a:t>
            </a:r>
            <a:br/>
            <a:r>
              <a:t>(Adv. RAG)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89720" y="3749040"/>
            <a:ext cx="274320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9760" y="3200400"/>
            <a:ext cx="1920240" cy="10972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 STIG</a:t>
            </a:r>
            <a:br/>
            <a:r>
              <a:t>Posture</a:t>
            </a:r>
            <a:br/>
            <a:r>
              <a:t>(MCP)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228600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36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754880"/>
            <a:ext cx="228600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736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Agentic RAG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754880"/>
            <a:ext cx="228600" cy="228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4736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Advanced Agentic RAG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754880"/>
            <a:ext cx="228600" cy="228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4736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754880"/>
            <a:ext cx="228600" cy="2286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4736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Human-in-the-Loop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Three-Tier RAG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291840" cy="59436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RAG (Simple)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291840" cy="3657600"/>
          </a:xfrm>
          <a:prstGeom prst="roundRect">
            <a:avLst/>
          </a:prstGeom>
          <a:solidFill>
            <a:srgbClr val="2227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Control lookups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Framework crosswalk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Report generation</a:t>
            </a:r>
          </a:p>
          <a:p>
            <a:pPr>
              <a:spcAft>
                <a:spcPts val="600"/>
              </a:spcAft>
              <a:defRPr sz="1300">
                <a:solidFill>
                  <a:srgbClr val="635B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635BFF"/>
                </a:solidFill>
                <a:latin typeface="Calibri"/>
              </a:defRPr>
            </a:pPr>
            <a:r>
              <a:t>Agents: Control Mapping,</a:t>
            </a:r>
            <a:br/>
            <a:r>
              <a:t>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59436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Agentic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291840" cy="3657600"/>
          </a:xfrm>
          <a:prstGeom prst="roundRect">
            <a:avLst/>
          </a:prstGeom>
          <a:solidFill>
            <a:srgbClr val="2227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Iterative evidence planning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Tool selection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Freshness SLAs</a:t>
            </a:r>
          </a:p>
          <a:p>
            <a:pPr>
              <a:spcAft>
                <a:spcPts val="600"/>
              </a:spcAft>
              <a:defRPr sz="1300">
                <a:solidFill>
                  <a:srgbClr val="635B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635BFF"/>
                </a:solidFill>
                <a:latin typeface="Calibri"/>
              </a:defRPr>
            </a:pPr>
            <a:r>
              <a:t>Agent: Evidence 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291840" cy="59436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Advanced Agentic 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291840" cy="3657600"/>
          </a:xfrm>
          <a:prstGeom prst="roundRect">
            <a:avLst/>
          </a:prstGeom>
          <a:solidFill>
            <a:srgbClr val="22273E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Multi-hop retrieval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Cross-encoder reranking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Contradiction detection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Sufficiency scoring</a:t>
            </a:r>
          </a:p>
          <a:p>
            <a:pPr>
              <a:spcAft>
                <a:spcPts val="600"/>
              </a:spcAft>
              <a:defRPr sz="1300">
                <a:solidFill>
                  <a:srgbClr val="635B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635BFF"/>
                </a:solidFill>
                <a:latin typeface="Calibri"/>
              </a:defRPr>
            </a:pPr>
            <a:r>
              <a:t>Agent: Gap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MCP — Deterministic Tool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54864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MCP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C853"/>
                </a:solidFill>
                <a:latin typeface="Calibri"/>
              </a:defRPr>
            </a:pPr>
            <a:r>
              <a:t>✓  Policy enforcement</a:t>
            </a:r>
          </a:p>
          <a:p>
            <a:pPr>
              <a:spcAft>
                <a:spcPts val="800"/>
              </a:spcAft>
              <a:defRPr sz="1300">
                <a:solidFill>
                  <a:srgbClr val="00C853"/>
                </a:solidFill>
                <a:latin typeface="Calibri"/>
              </a:defRPr>
            </a:pPr>
            <a:r>
              <a:t>✓  Rate limiting &amp; allowlists</a:t>
            </a:r>
          </a:p>
          <a:p>
            <a:pPr>
              <a:spcAft>
                <a:spcPts val="800"/>
              </a:spcAft>
              <a:defRPr sz="1300">
                <a:solidFill>
                  <a:srgbClr val="00C853"/>
                </a:solidFill>
                <a:latin typeface="Calibri"/>
              </a:defRPr>
            </a:pPr>
            <a:r>
              <a:t>✓  mTLS authentication</a:t>
            </a:r>
          </a:p>
          <a:p>
            <a:pPr>
              <a:spcAft>
                <a:spcPts val="800"/>
              </a:spcAft>
              <a:defRPr sz="1300">
                <a:solidFill>
                  <a:srgbClr val="00C853"/>
                </a:solidFill>
                <a:latin typeface="Calibri"/>
              </a:defRPr>
            </a:pPr>
            <a:r>
              <a:t>✓  SHA-256 evidence hashing</a:t>
            </a:r>
          </a:p>
          <a:p>
            <a:pPr>
              <a:spcAft>
                <a:spcPts val="800"/>
              </a:spcAft>
              <a:defRPr sz="1300">
                <a:solidFill>
                  <a:srgbClr val="00C853"/>
                </a:solidFill>
                <a:latin typeface="Calibri"/>
              </a:defRPr>
            </a:pPr>
            <a:r>
              <a:t>✓  Full audit trail</a:t>
            </a:r>
          </a:p>
          <a:p>
            <a:pPr>
              <a:spcAft>
                <a:spcPts val="800"/>
              </a:spcAft>
              <a:defRPr sz="1300">
                <a:solidFill>
                  <a:srgbClr val="00C853"/>
                </a:solidFill>
                <a:latin typeface="Calibri"/>
              </a:defRPr>
            </a:pPr>
            <a:r>
              <a:t>✓  Structured tool contracts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6858000" cy="41148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compliance_core (8 tools)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8288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0E0E0"/>
                </a:solidFill>
                <a:latin typeface="Calibri"/>
              </a:defRPr>
            </a:pPr>
            <a:r>
              <a:t>get_asset_inventory, get_config_snapshot,</a:t>
            </a:r>
            <a:br/>
            <a:r>
              <a:t>query_audit_logs, evaluate_control_rule,</a:t>
            </a:r>
            <a:br/>
            <a:r>
              <a:t>store_evidence_artifact, create_poam_item,</a:t>
            </a:r>
            <a:br/>
            <a:r>
              <a:t>create_ticket, detect_drift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743200"/>
            <a:ext cx="6858000" cy="41148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stig_scap (4 tools)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2004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0E0E0"/>
                </a:solidFill>
                <a:latin typeface="Calibri"/>
              </a:defRPr>
            </a:pPr>
            <a:r>
              <a:t>ingest_ckl, run_scap_scan,</a:t>
            </a:r>
            <a:br/>
            <a:r>
              <a:t>map_stig_to_nist_controls,</a:t>
            </a:r>
            <a:br/>
            <a:r>
              <a:t>get_stig_benchmark_info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114800"/>
            <a:ext cx="685800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ticketing (3 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5720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0E0E0"/>
                </a:solidFill>
                <a:latin typeface="Calibri"/>
              </a:defRPr>
            </a:pPr>
            <a:r>
              <a:t>create_ticket, update_ticket,</a:t>
            </a:r>
            <a:br/>
            <a:r>
              <a:t>query_tickets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5486400"/>
            <a:ext cx="6858000" cy="411480"/>
          </a:xfrm>
          <a:prstGeom prst="round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cicd (3 tools)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9436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0E0E0"/>
                </a:solidFill>
                <a:latin typeface="Calibri"/>
              </a:defRPr>
            </a:pPr>
            <a:r>
              <a:t>create_remediation_pr, run_terraform_plan,</a:t>
            </a:r>
            <a:br/>
            <a:r>
              <a:t>run_policy_check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Multi-Cloud Provider Coverage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5626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90088"/>
                <a:gridCol w="2990088"/>
                <a:gridCol w="2990088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Canonical Operation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GCP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Asset Inventory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AWS Config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Resource Graph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Cloud Asset Inventory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Config Snapshot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Config + IAM +</a:t>
                      </a:r>
                      <a:br/>
                      <a:r>
                        <a:t>EC2/S3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ARM + Policy +</a:t>
                      </a:r>
                      <a:br/>
                      <a:r>
                        <a:t>Resource Graph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Asset Inventory</a:t>
                      </a:r>
                      <a:br/>
                      <a:r>
                        <a:t>(RESOURCE)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Audit Logs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CloudTrail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Activity Logs +</a:t>
                      </a:r>
                      <a:br/>
                      <a:r>
                        <a:t>Entra Audit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Cloud Logging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Security Posture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Security Hub +</a:t>
                      </a:r>
                      <a:br/>
                      <a:r>
                        <a:t>GuardDuty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Defender +</a:t>
                      </a:r>
                      <a:br/>
                      <a:r>
                        <a:t>Sentinel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Security Command</a:t>
                      </a:r>
                      <a:br/>
                      <a:r>
                        <a:t>Center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 / STIG Posture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SSM Inventory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Guest Configuration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 Config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53"/>
                </a:solidFill>
                <a:latin typeface="Calibri"/>
              </a:defRPr>
            </a:pPr>
            <a:r>
              <a:t>★  All providers support Commercial + Government partitions (GovCloud, Azure Gov, Assured Workloads)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Agent-to-Agent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5BFF"/>
                </a:solidFill>
                <a:latin typeface="Calibri"/>
              </a:defRPr>
            </a:pPr>
            <a:r>
              <a:t>Message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474720" cy="411480"/>
          </a:xfrm>
          <a:prstGeom prst="roundRect">
            <a:avLst/>
          </a:prstGeom>
          <a:solidFill>
            <a:srgbClr val="22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96F3"/>
                </a:solidFill>
                <a:latin typeface="Calibri"/>
              </a:defRPr>
            </a:pPr>
            <a:r>
              <a:t>TaskRequest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3474720" cy="411480"/>
          </a:xfrm>
          <a:prstGeom prst="roundRect">
            <a:avLst/>
          </a:prstGeom>
          <a:solidFill>
            <a:srgbClr val="22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96F3"/>
                </a:solidFill>
                <a:latin typeface="Calibri"/>
              </a:defRPr>
            </a:pPr>
            <a:r>
              <a:t>TaskResponse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39"/>
            <a:ext cx="3474720" cy="411480"/>
          </a:xfrm>
          <a:prstGeom prst="roundRect">
            <a:avLst/>
          </a:prstGeom>
          <a:solidFill>
            <a:srgbClr val="22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96F3"/>
                </a:solidFill>
                <a:latin typeface="Calibri"/>
              </a:defRPr>
            </a:pPr>
            <a:r>
              <a:t>CommitteeReviewRequest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79"/>
            <a:ext cx="3474720" cy="411480"/>
          </a:xfrm>
          <a:prstGeom prst="roundRect">
            <a:avLst/>
          </a:prstGeom>
          <a:solidFill>
            <a:srgbClr val="22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96F3"/>
                </a:solidFill>
                <a:latin typeface="Calibri"/>
              </a:defRPr>
            </a:pPr>
            <a:r>
              <a:t>AgentHeartbeat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5BFF"/>
                </a:solidFill>
                <a:latin typeface="Calibri"/>
              </a:defRPr>
            </a:pPr>
            <a:r>
              <a:t>Agent Registry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0" y="1737360"/>
          <a:ext cx="411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agent_id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capabilities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scope_resolver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planning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system boundary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evidence_planner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agentic_rag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evidence plans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gap_analyzer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adv_rag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gap analysis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5BFF"/>
                </a:solidFill>
                <a:latin typeface="Calibri"/>
              </a:defRPr>
            </a:pPr>
            <a:r>
              <a:t>Committee Review Flow (High-Risk Controls)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828800" cy="82296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Control</a:t>
            </a:r>
            <a:br/>
            <a:r>
              <a:t>Assessment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19" y="4892040"/>
            <a:ext cx="365761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4480560"/>
            <a:ext cx="1828800" cy="82296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Assessor</a:t>
            </a:r>
            <a:br/>
            <a:r>
              <a:t>Agent 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17719" y="4892040"/>
            <a:ext cx="365761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0" y="4480560"/>
            <a:ext cx="1828800" cy="82296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Assessor</a:t>
            </a:r>
            <a:br/>
            <a:r>
              <a:t>Agent 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19" y="4892040"/>
            <a:ext cx="365761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0" y="4480560"/>
            <a:ext cx="1828800" cy="82296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Reconciliation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89719" y="4892040"/>
            <a:ext cx="365761" cy="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0" y="4480560"/>
            <a:ext cx="1828800" cy="822960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F36"/>
                </a:solidFill>
                <a:latin typeface="Calibri"/>
              </a:defRPr>
            </a:pPr>
            <a:r>
              <a:t>Accept /</a:t>
            </a:r>
            <a:br/>
            <a:r>
              <a:t>Escalate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Architecture — 13 Core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291840" cy="45720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System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CloudAccount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291840" cy="45720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ControlCatalog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2316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ControlMapping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3291840" cy="4572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01168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EvidenceArtifact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42316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ComplianceRun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83464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ControlAssessment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3291840" cy="45720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DriftEvent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060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StigFinding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840480"/>
            <a:ext cx="3291840" cy="457200"/>
          </a:xfrm>
          <a:prstGeom prst="round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Remediation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38912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POAMItem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80060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RemediationTicket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840480"/>
            <a:ext cx="3291840" cy="4572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438912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ApprovalRequest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4800600"/>
            <a:ext cx="2926080" cy="347472"/>
          </a:xfrm>
          <a:prstGeom prst="roundRect">
            <a:avLst/>
          </a:prstGeom>
          <a:solidFill>
            <a:srgbClr val="22273E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AuditLog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53"/>
                </a:solidFill>
                <a:latin typeface="Calibri"/>
              </a:defRPr>
            </a:pPr>
            <a:r>
              <a:t>★  All tables: UUID primary keys • created_at / updated_at timestamps • Immutable audit trail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ATO-Grade Security Guarantees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Immutable Audit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Every MCP tool call logged with input, output hash, timestamp, agent ID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Evidence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28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SHA-256 hashing on all artifacts; WORM-compatible storage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Human Approval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747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High-severity remediation requires human review before execution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Cross-Framework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4747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NIST 800-53 ↔ FedRAMP ↔ RMF ↔ STIG (via CCI)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846320"/>
            <a:ext cx="502920" cy="50292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Multi-Cloud Parity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Single canonical interface across AWS / Azure / GCP (commercial + gov)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846320"/>
            <a:ext cx="502920" cy="50292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Evidence Freshness SLAs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Time-aware retrieval ensures evidence is within compliance windows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6112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635B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Django 5, Django REST Framework, Celery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LangGraph, LangChain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pgvector / Chroma, OpenAI embeddings, cross-encoder reranking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Custom router with policy enforcement + audit logging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A2A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Structured message contracts (TaskRequest / TaskResponse)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Cloud SDKs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boto3, azure-mgmt-*, google-cloud-*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STIG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OpenSCAP, CKL XML parser, CCI crosswalk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React 18, TypeScript, TanStack Query, Recharts</a:t>
                      </a:r>
                    </a:p>
                  </a:txBody>
                  <a:tcPr anchor="ctr">
                    <a:solidFill>
                      <a:srgbClr val="1A1F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96F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Docker Compose, PostgreSQL + pgvector, Redis, MinIO</a:t>
                      </a:r>
                    </a:p>
                  </a:txBody>
                  <a:tcPr anchor="ctr">
                    <a:solidFill>
                      <a:srgbClr val="2227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— Docker Compose (Dev) / Kubernetes (Prod)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Development (Docker Compose)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737360" cy="54864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postgres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737360"/>
            <a:ext cx="1737360" cy="54864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1737360" cy="54864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minio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1737360" cy="54864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423160"/>
            <a:ext cx="1737360" cy="54864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celery-worker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423160"/>
            <a:ext cx="1737360" cy="54864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5BFF"/>
                </a:solidFill>
                <a:latin typeface="Calibri"/>
              </a:defRPr>
            </a:pPr>
            <a:r>
              <a:t>Production (Kubernetes)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737360" cy="640080"/>
          </a:xfrm>
          <a:prstGeom prst="round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  <a:br/>
            <a:r>
              <a:t>(Helm Charts)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931920"/>
            <a:ext cx="173736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Managed Postgres</a:t>
            </a:r>
            <a:br/>
            <a:r>
              <a:t>(RDS / Cloud SQL)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1737360" cy="64008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Managed Redis</a:t>
            </a:r>
            <a:br/>
            <a:r>
              <a:t>(ElastiCache)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09159"/>
            <a:ext cx="1737360" cy="64008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S3 / GCS</a:t>
            </a:r>
            <a:br/>
            <a:r>
              <a:t>(Evidence Store)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709159"/>
            <a:ext cx="1737360" cy="64008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Ingress /</a:t>
            </a:r>
            <a:br/>
            <a:r>
              <a:t>Load Balancer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09159"/>
            <a:ext cx="1737360" cy="6400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Secrets Manager</a:t>
            </a:r>
            <a:br/>
            <a:r>
              <a:t>(Vault / KMS)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303520" cy="4572000"/>
          </a:xfrm>
          <a:prstGeom prst="roundRect">
            <a:avLst/>
          </a:prstGeom>
          <a:solidFill>
            <a:srgbClr val="22273E"/>
          </a:solidFill>
          <a:ln w="19050"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5BFF"/>
                </a:solidFill>
                <a:latin typeface="Calibri"/>
              </a:defRPr>
            </a:pPr>
            <a:r>
              <a:t>Production Deployment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▸  Horizontal pod autoscaling for backend + workers</a:t>
            </a:r>
          </a:p>
          <a:p>
            <a:pPr>
              <a:spcAft>
                <a:spcPts val="8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▸  PostgreSQL with pgvector extension for RAG</a:t>
            </a:r>
          </a:p>
          <a:p>
            <a:pPr>
              <a:spcAft>
                <a:spcPts val="8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▸  Redis Sentinel or ElastiCache for HA</a:t>
            </a:r>
          </a:p>
          <a:p>
            <a:pPr>
              <a:spcAft>
                <a:spcPts val="8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▸  MinIO → S3/GCS for WORM evidence storage</a:t>
            </a:r>
          </a:p>
          <a:p>
            <a:pPr>
              <a:spcAft>
                <a:spcPts val="8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▸  mTLS between all services</a:t>
            </a:r>
          </a:p>
          <a:p>
            <a:pPr>
              <a:spcAft>
                <a:spcPts val="8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▸  Network policies for zero-trust mesh</a:t>
            </a:r>
          </a:p>
          <a:p>
            <a:pPr>
              <a:spcAft>
                <a:spcPts val="8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▸  Helm charts with environment overlays</a:t>
            </a:r>
          </a:p>
          <a:p>
            <a:pPr>
              <a:spcAft>
                <a:spcPts val="8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▸  CI/CD: GitHub Actions → container registry → ArgoCD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